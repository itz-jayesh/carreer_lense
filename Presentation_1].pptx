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273" r:id="rId3"/>
    <p:sldId id="264" r:id="rId4"/>
    <p:sldId id="271" r:id="rId5"/>
    <p:sldId id="276" r:id="rId6"/>
    <p:sldId id="265" r:id="rId7"/>
    <p:sldId id="277" r:id="rId8"/>
    <p:sldId id="266" r:id="rId9"/>
    <p:sldId id="267" r:id="rId10"/>
    <p:sldId id="278" r:id="rId11"/>
    <p:sldId id="279" r:id="rId12"/>
    <p:sldId id="270" r:id="rId13"/>
    <p:sldId id="268" r:id="rId14"/>
    <p:sldId id="269" r:id="rId15"/>
    <p:sldId id="274" r:id="rId16"/>
    <p:sldId id="272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E0A6-A775-43EA-B981-F344B6898FA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17948-8E02-467D-A767-427438BFF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9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643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136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017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E579BFB9-2382-06FF-88B4-3D83ADDA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>
            <a:extLst>
              <a:ext uri="{FF2B5EF4-FFF2-40B4-BE49-F238E27FC236}">
                <a16:creationId xmlns:a16="http://schemas.microsoft.com/office/drawing/2014/main" id="{D89C77D9-36D0-1689-9E6A-3C377C183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>
            <a:extLst>
              <a:ext uri="{FF2B5EF4-FFF2-40B4-BE49-F238E27FC236}">
                <a16:creationId xmlns:a16="http://schemas.microsoft.com/office/drawing/2014/main" id="{91FB1DA2-6F05-922E-62B4-8BD199288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52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535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AD2065C-DC80-BB15-18AF-C7373122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>
            <a:extLst>
              <a:ext uri="{FF2B5EF4-FFF2-40B4-BE49-F238E27FC236}">
                <a16:creationId xmlns:a16="http://schemas.microsoft.com/office/drawing/2014/main" id="{B9F550D0-DE3D-86D8-1FA0-6AB7330E7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>
            <a:extLst>
              <a:ext uri="{FF2B5EF4-FFF2-40B4-BE49-F238E27FC236}">
                <a16:creationId xmlns:a16="http://schemas.microsoft.com/office/drawing/2014/main" id="{580A2D4B-3555-1ED5-E01B-4136689B4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30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101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261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FCF146-00B4-6513-0B2C-9FAB7287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>
            <a:extLst>
              <a:ext uri="{FF2B5EF4-FFF2-40B4-BE49-F238E27FC236}">
                <a16:creationId xmlns:a16="http://schemas.microsoft.com/office/drawing/2014/main" id="{BCF8900D-4345-AAB8-B751-DE0750A8E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>
            <a:extLst>
              <a:ext uri="{FF2B5EF4-FFF2-40B4-BE49-F238E27FC236}">
                <a16:creationId xmlns:a16="http://schemas.microsoft.com/office/drawing/2014/main" id="{26D5A880-A034-C102-A527-228598177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563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4353DF-1C14-E776-54E9-AD5FB610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>
            <a:extLst>
              <a:ext uri="{FF2B5EF4-FFF2-40B4-BE49-F238E27FC236}">
                <a16:creationId xmlns:a16="http://schemas.microsoft.com/office/drawing/2014/main" id="{2B2B9AAF-8802-DE74-B41B-0BA9C9F86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>
            <a:extLst>
              <a:ext uri="{FF2B5EF4-FFF2-40B4-BE49-F238E27FC236}">
                <a16:creationId xmlns:a16="http://schemas.microsoft.com/office/drawing/2014/main" id="{57BCAA4B-225F-A58B-BA32-CA2966FFD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552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032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015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030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D8A872FE-4228-BEA0-DE43-D3912AC7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>
            <a:extLst>
              <a:ext uri="{FF2B5EF4-FFF2-40B4-BE49-F238E27FC236}">
                <a16:creationId xmlns:a16="http://schemas.microsoft.com/office/drawing/2014/main" id="{4B7D0513-C93B-B18F-DAC7-FBDD82601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>
            <a:extLst>
              <a:ext uri="{FF2B5EF4-FFF2-40B4-BE49-F238E27FC236}">
                <a16:creationId xmlns:a16="http://schemas.microsoft.com/office/drawing/2014/main" id="{169FEAF1-3BF1-8130-099F-5A8543649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330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73288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CD91F88-99F9-1A54-B722-76A0E7E43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be2f60fe5b_0_0:notes">
            <a:extLst>
              <a:ext uri="{FF2B5EF4-FFF2-40B4-BE49-F238E27FC236}">
                <a16:creationId xmlns:a16="http://schemas.microsoft.com/office/drawing/2014/main" id="{6AC73713-2856-A13D-091B-046A8F0DF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be2f60fe5b_0_0:notes">
            <a:extLst>
              <a:ext uri="{FF2B5EF4-FFF2-40B4-BE49-F238E27FC236}">
                <a16:creationId xmlns:a16="http://schemas.microsoft.com/office/drawing/2014/main" id="{826E9A64-C64A-6ACE-6F13-FA16554E8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82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C5CD-8B81-28E4-2075-498BE0FDE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2098-542A-2F34-A9DE-F218CAAE1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D0378-8A43-7DD8-35AD-4FF628A6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A4BA4-A0E8-3D5C-7C48-60DDA6C4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2C4CC-B57E-F253-F16A-3054880D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76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0C10-B606-4754-A1AA-90FD35C5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D926C-7F30-44F0-35BE-6459719A1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DA21C-2203-C78F-93E1-1A9D718F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46A58-D9D0-D3E7-E621-22D0A720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4F653-C886-266C-80D6-F0A18F62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56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F613-C110-2A8B-C00E-A026FB41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9F314-9F0D-B32F-4FCF-5DDA2A7EF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AC245-BA11-D358-77E9-D618C823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D050F-C4D4-1EC9-1259-4AD5980D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E920C-2BFF-C7B9-349B-46084736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36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BE39-818E-150C-AF24-B30FF34C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B417-DAC1-EDE6-5377-7A6C18F7B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78050-B5B7-65E3-FED7-6FFFD260D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47792-9538-6DFB-7783-3AD00B1D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A4AF3-7E60-A4FF-F340-8C3A4A76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8ACB8-2736-5DAD-FE83-966DF1E7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42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CD14-F29E-520A-09F2-12A2FC64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4B3AE-5FA7-5FC3-EE22-DC9C8FD2A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F5362-F873-4655-FE64-E2D54D9D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A9E93D-044A-8DAB-8607-CCD401F3B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1E789-3F3F-2532-7B8C-BBD46E099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BC595-D2EF-82E0-9051-06725E79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544FD-DC23-717C-A411-6151F2A15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3A2A4-719D-BC0A-EDAA-C7B01E08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314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0893-A9E9-E794-3894-841E1544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A5796-AC12-5B27-E8E6-081042C7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1B887-157F-97D0-2845-26A96AA8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3D9A6-FA3F-1FCD-E8EF-92B8B7CE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49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3B3B3-9A7B-E2D7-78D1-71FF4338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4CED0-6A96-4EC5-4EB1-ECA444DF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4C23C-3FB6-95DD-7F32-1105FA4A0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036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2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45B2-5BFA-F8AC-5674-71CC23B70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B7167-26FC-6735-6820-CB7B0D9E2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3E497-122B-A42E-5393-91CB31F02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E8ED0-662A-EAF5-FB36-357304B7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83ACA-B236-8CFA-F14A-F25C4B6A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EA799-4933-8D55-C934-884F574E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2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09DE0-73D2-C16F-D3B5-2537E09C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CE571B-2FA2-8D50-8D1A-60EB0CFB5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445BA-D6DB-07F4-B7BA-5531F9FBF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C4B9E-85F6-5A70-FCF7-687DF4B1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57194-48EB-BF56-F232-5452F7FA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887CC-466E-6B19-2D40-ABEC71B5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9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2AB7-71A1-337F-4B1E-179C3816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80786-278C-800A-9CD0-6D68338D0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645AB-7A05-13FA-4B55-4C9A0AB86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F89A0-855D-81DB-913B-A53D6EBF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130B4-02C3-C48F-E1E7-339A984C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078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AC882-75B0-6198-EF35-9536FD082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A5A84-3D9F-E74A-9DC4-60990D800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D0004-D919-FE09-19F1-FA088E67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EAF43-147D-B645-4E72-1E95571D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4BFD4-A263-F010-D6CA-997ECCAA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21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2D1CC-BCE7-3D0A-A665-023A0D2E9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963F-1762-E787-9CCE-1207D052C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00542-4797-46F2-BF07-55D90A3E98E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91869-95B0-E19B-ACEB-34182A14C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0E831-17CF-8440-68FA-65A71076B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8D42-568E-4F4C-B066-9F1FEF690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22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84;p34"/>
          <p:cNvSpPr txBox="1">
            <a:spLocks/>
          </p:cNvSpPr>
          <p:nvPr/>
        </p:nvSpPr>
        <p:spPr>
          <a:xfrm>
            <a:off x="1945339" y="2503976"/>
            <a:ext cx="8513153" cy="612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2000" b="1" dirty="0"/>
              <a:t>CAREER LENS- SMART CV ANALYZER AND BUILDER</a:t>
            </a:r>
            <a:endParaRPr kumimoji="0" lang="en-US" sz="20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Subtitle 1"/>
          <p:cNvSpPr txBox="1">
            <a:spLocks/>
          </p:cNvSpPr>
          <p:nvPr/>
        </p:nvSpPr>
        <p:spPr>
          <a:xfrm>
            <a:off x="1945338" y="3863070"/>
            <a:ext cx="8513151" cy="16361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Student:</a:t>
            </a:r>
          </a:p>
          <a:p>
            <a:pPr marL="0" lvl="0" indent="0" algn="ctr">
              <a:buNone/>
              <a:defRPr/>
            </a:pPr>
            <a:r>
              <a:rPr lang="en-IN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/>
              <a:t>Jayesh </a:t>
            </a:r>
            <a:r>
              <a:rPr lang="en-IN" sz="1600" dirty="0" err="1"/>
              <a:t>Bapurao</a:t>
            </a:r>
            <a:r>
              <a:rPr lang="en-IN" sz="1600" dirty="0"/>
              <a:t> Tupere</a:t>
            </a:r>
            <a:endParaRPr lang="en-IN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en-IN" sz="1600" dirty="0"/>
              <a:t> Shrutika </a:t>
            </a:r>
            <a:r>
              <a:rPr lang="en-IN" sz="1600" dirty="0" err="1"/>
              <a:t>Shahaji</a:t>
            </a:r>
            <a:r>
              <a:rPr lang="en-IN" sz="1600" dirty="0"/>
              <a:t> Desai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0" indent="0" algn="ctr"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en-IN" sz="1600" dirty="0"/>
              <a:t>Pallavi Raosaheb </a:t>
            </a:r>
            <a:r>
              <a:rPr lang="en-IN" sz="1600" dirty="0" err="1"/>
              <a:t>Kharade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0" indent="0" algn="ctr">
              <a:buNone/>
              <a:defRPr/>
            </a:pPr>
            <a:r>
              <a:rPr lang="en-IN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1600" dirty="0"/>
              <a:t> Sagar </a:t>
            </a:r>
            <a:r>
              <a:rPr lang="en-IN" sz="1600" dirty="0" err="1"/>
              <a:t>Sudam</a:t>
            </a:r>
            <a:r>
              <a:rPr lang="en-IN" sz="1600" dirty="0"/>
              <a:t> Pathare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45341" y="1004193"/>
            <a:ext cx="8513153" cy="1192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kumimoji="0" lang="en-US" sz="12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SINHGAD TECHNICAL EDUCATION SOCIETY’S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kumimoji="0" lang="en-US" sz="2000" b="1" i="0" u="none" strike="noStrike" kern="1200" cap="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Sinhgad</a:t>
            </a:r>
            <a:r>
              <a:rPr kumimoji="0" lang="en-US" sz="20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INSTITUTE OF TECHNOLOGY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endParaRPr kumimoji="0" lang="en-IN" sz="14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45341" y="2222648"/>
            <a:ext cx="8513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kumimoji="0" lang="en-IN" sz="12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kumimoji="0" lang="en-IN" sz="11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45339" y="6214746"/>
            <a:ext cx="851315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SAVITRIBAI PHULE PUNE UNIVERSITY</a:t>
            </a:r>
            <a:endParaRPr lang="en-IN" sz="1100" b="1" cap="all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Academic Year-2025-26</a:t>
            </a:r>
            <a:endParaRPr kumimoji="0" lang="en-IN" sz="11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612" y="36460"/>
            <a:ext cx="1571717" cy="9771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54EC04-C18C-B690-1DE2-BD43AB2C9580}"/>
              </a:ext>
            </a:extLst>
          </p:cNvPr>
          <p:cNvSpPr txBox="1"/>
          <p:nvPr/>
        </p:nvSpPr>
        <p:spPr>
          <a:xfrm>
            <a:off x="1945339" y="3390844"/>
            <a:ext cx="8513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Guide: Prof. </a:t>
            </a:r>
            <a:r>
              <a:rPr lang="en-IN" sz="1600" dirty="0"/>
              <a:t>VIKRAM CHAVAN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43773-BA1C-FFB1-B73C-AA6B39D836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302" y="5451415"/>
            <a:ext cx="1539222" cy="8671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1"/>
          <p:cNvSpPr txBox="1">
            <a:spLocks/>
          </p:cNvSpPr>
          <p:nvPr/>
        </p:nvSpPr>
        <p:spPr>
          <a:xfrm>
            <a:off x="1945338" y="3863070"/>
            <a:ext cx="8513151" cy="16361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835" y="18073"/>
            <a:ext cx="11627224" cy="705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kumimoji="0" lang="en-US" sz="1400" b="1" i="0" u="none" strike="noStrike" kern="1200" cap="all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Stage –</a:t>
            </a:r>
            <a:r>
              <a:rPr lang="en-US" sz="14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presentation on</a:t>
            </a:r>
          </a:p>
          <a:p>
            <a:pPr lvl="0" algn="ctr">
              <a:defRPr/>
            </a:pPr>
            <a:r>
              <a:rPr lang="en-US" sz="1600" b="1" dirty="0"/>
              <a:t>CAREER LENS- SMART CV ANALYZER AND BUILDER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endParaRPr lang="en-US" sz="1400" b="1" cap="all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lang="en-US" sz="14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Submitted to the Savitribai phule pune university ,pune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partial fulfilment of the requirements for the award of degree of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lang="en-US" sz="14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Bachelor of engineering (computer engineering)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lang="en-US" sz="12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Student: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200" dirty="0"/>
              <a:t>Jayesh </a:t>
            </a:r>
            <a:r>
              <a:rPr lang="en-IN" sz="1200" dirty="0" err="1"/>
              <a:t>Bapurao</a:t>
            </a:r>
            <a:r>
              <a:rPr lang="en-IN" sz="1200" dirty="0"/>
              <a:t> Tupere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en-IN" sz="1200" dirty="0"/>
              <a:t> Shrutika </a:t>
            </a:r>
            <a:r>
              <a:rPr lang="en-IN" sz="1200" dirty="0" err="1"/>
              <a:t>Shahaji</a:t>
            </a:r>
            <a:r>
              <a:rPr lang="en-IN" sz="1200" dirty="0"/>
              <a:t> Desai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en-IN" sz="1200" dirty="0"/>
              <a:t> Pallavi Raosaheb </a:t>
            </a:r>
            <a:r>
              <a:rPr lang="en-IN" sz="1200" dirty="0" err="1"/>
              <a:t>Kharade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1200" dirty="0"/>
              <a:t> Sagar </a:t>
            </a:r>
            <a:r>
              <a:rPr lang="en-IN" sz="1200" dirty="0" err="1"/>
              <a:t>Sudam</a:t>
            </a:r>
            <a:r>
              <a:rPr lang="en-IN" sz="1200" dirty="0"/>
              <a:t> Pathare</a:t>
            </a:r>
            <a:endParaRPr lang="en-IN" sz="1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 Prof.</a:t>
            </a:r>
            <a:r>
              <a:rPr lang="en-IN" sz="1200" dirty="0"/>
              <a:t> VIKRAM CHAVAN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endParaRPr kumimoji="0" lang="en-US" sz="12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endParaRPr kumimoji="0" lang="en-US" sz="12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marL="0" marR="0" lvl="0" indent="0" algn="ctr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  <a:defRPr/>
            </a:pPr>
            <a:r>
              <a:rPr lang="en-US" sz="14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STE’S </a:t>
            </a:r>
            <a:r>
              <a:rPr lang="en-US" sz="1400" b="1" cap="all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Sinhgad</a:t>
            </a:r>
            <a:r>
              <a:rPr lang="en-US" sz="14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institute of technology, Lonavala</a:t>
            </a:r>
          </a:p>
          <a:p>
            <a:pPr marL="0" marR="0" lvl="0" indent="0" algn="ctr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SAVITRIBAI PHULE PUNE UNIVERSITY</a:t>
            </a:r>
          </a:p>
          <a:p>
            <a:pPr marL="0" marR="0" lvl="0" indent="0" algn="ctr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cap="all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Academic Year-2025-26</a:t>
            </a:r>
            <a:endParaRPr kumimoji="0" lang="en-IN" sz="14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5339" y="6214746"/>
            <a:ext cx="851315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612" y="4357457"/>
            <a:ext cx="1571717" cy="97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0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7F0C56-94C3-E743-7620-877717192F98}"/>
              </a:ext>
            </a:extLst>
          </p:cNvPr>
          <p:cNvSpPr txBox="1"/>
          <p:nvPr/>
        </p:nvSpPr>
        <p:spPr>
          <a:xfrm>
            <a:off x="191718" y="999240"/>
            <a:ext cx="3709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E959F-77B1-93C0-49A3-B9060E56E1D3}"/>
              </a:ext>
            </a:extLst>
          </p:cNvPr>
          <p:cNvSpPr txBox="1"/>
          <p:nvPr/>
        </p:nvSpPr>
        <p:spPr>
          <a:xfrm>
            <a:off x="4656841" y="1250994"/>
            <a:ext cx="66176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today’s competitive job market, candidates often struggle to create and optimize resumes that align with job requirements and pass through Applicant Tracking Systems (ATS). The </a:t>
            </a:r>
            <a:r>
              <a:rPr lang="en-US" sz="2000" b="1" dirty="0"/>
              <a:t>Resume Analyzer and Builder</a:t>
            </a:r>
            <a:r>
              <a:rPr lang="en-US" sz="2000" dirty="0"/>
              <a:t> project leverages </a:t>
            </a:r>
            <a:r>
              <a:rPr lang="en-US" sz="2000" b="1" dirty="0"/>
              <a:t> GenAI</a:t>
            </a:r>
            <a:r>
              <a:rPr lang="en-US" sz="2000" dirty="0"/>
              <a:t> and </a:t>
            </a:r>
            <a:r>
              <a:rPr lang="en-US" sz="2000" b="1" dirty="0"/>
              <a:t>LLMs</a:t>
            </a:r>
            <a:r>
              <a:rPr lang="en-US" sz="2000" dirty="0"/>
              <a:t> to simplify this process. It not only evaluates existing resumes by comparing them with job descriptions but also helps users build professional, ATS-friendly resumes from scratch. The system provides smart insights such as ATS scores, missing skills, and improvement suggestions, offering an intelligent, end-to-end solution for resume analysis and creation.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6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7F0C56-94C3-E743-7620-877717192F98}"/>
              </a:ext>
            </a:extLst>
          </p:cNvPr>
          <p:cNvSpPr txBox="1"/>
          <p:nvPr/>
        </p:nvSpPr>
        <p:spPr>
          <a:xfrm>
            <a:off x="191718" y="999240"/>
            <a:ext cx="3709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E959F-77B1-93C0-49A3-B9060E56E1D3}"/>
              </a:ext>
            </a:extLst>
          </p:cNvPr>
          <p:cNvSpPr txBox="1"/>
          <p:nvPr/>
        </p:nvSpPr>
        <p:spPr>
          <a:xfrm>
            <a:off x="4656841" y="1250994"/>
            <a:ext cx="66176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system consists of two integrated modules: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Resume Analyzer: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Users upload their existing resume along with a job description.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resume is parsed and processed to extract key information such as skills, experience, and education.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extracted data is analyzed by an LLM to generate insights like </a:t>
            </a:r>
            <a:r>
              <a:rPr lang="en-US" b="1" dirty="0"/>
              <a:t>ATS score</a:t>
            </a:r>
            <a:r>
              <a:rPr lang="en-US" dirty="0"/>
              <a:t>, </a:t>
            </a:r>
            <a:r>
              <a:rPr lang="en-US" b="1" dirty="0"/>
              <a:t>missing skills</a:t>
            </a:r>
            <a:r>
              <a:rPr lang="en-US" dirty="0"/>
              <a:t>, </a:t>
            </a:r>
            <a:r>
              <a:rPr lang="en-US" b="1" dirty="0"/>
              <a:t>overall summary</a:t>
            </a:r>
            <a:r>
              <a:rPr lang="en-US" dirty="0"/>
              <a:t>, and </a:t>
            </a:r>
            <a:r>
              <a:rPr lang="en-US" b="1" dirty="0"/>
              <a:t>recommendations for improvement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analysis helps users understand how well their resume matches the target job and where enhancements are needed.</a:t>
            </a:r>
          </a:p>
        </p:txBody>
      </p:sp>
    </p:spTree>
    <p:extLst>
      <p:ext uri="{BB962C8B-B14F-4D97-AF65-F5344CB8AC3E}">
        <p14:creationId xmlns:p14="http://schemas.microsoft.com/office/powerpoint/2010/main" val="36135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>
          <a:extLst>
            <a:ext uri="{FF2B5EF4-FFF2-40B4-BE49-F238E27FC236}">
              <a16:creationId xmlns:a16="http://schemas.microsoft.com/office/drawing/2014/main" id="{73A82A7C-B84C-0E54-2672-FE46DF86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9D7A96C2-768B-C85B-68A9-D1B16C9D6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3F0F8C58-CD20-D388-92C7-35336C833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FC4C1819-EF2C-D535-3987-85EAFA29E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9FDA4049-663C-B9BF-A6FF-9C51624BE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89528F79-C702-BFD5-CB5E-75892E7A7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F2C8F3F-3E0B-E5BA-0A6F-A78886641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2353E1CA-1D96-292D-690B-D8542949B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B39F78-DC33-AB2E-F227-0B84D2FD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C09275-0BE0-AABA-2165-CE2941B5FB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D4109E-6205-7750-3045-A5946B18660B}"/>
              </a:ext>
            </a:extLst>
          </p:cNvPr>
          <p:cNvSpPr txBox="1"/>
          <p:nvPr/>
        </p:nvSpPr>
        <p:spPr>
          <a:xfrm>
            <a:off x="191718" y="999240"/>
            <a:ext cx="3709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9FB1A-4CC3-A7C4-1A9C-08D6A862F667}"/>
              </a:ext>
            </a:extLst>
          </p:cNvPr>
          <p:cNvSpPr txBox="1"/>
          <p:nvPr/>
        </p:nvSpPr>
        <p:spPr>
          <a:xfrm>
            <a:off x="4656841" y="1250994"/>
            <a:ext cx="66176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Resume Builder: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 log in and fill out a structured form with their details — such as personal info, education, projects, skills, and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this data, the system automatically generates a </a:t>
            </a:r>
            <a:r>
              <a:rPr lang="en-US" b="1" dirty="0"/>
              <a:t>professionally formatted resume</a:t>
            </a:r>
            <a:r>
              <a:rPr lang="en-US" dirty="0"/>
              <a:t>, customizable in different styles.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module ensures that even users with minimal design or writing knowledge can create impactful, job-ready resumes.</a:t>
            </a:r>
          </a:p>
        </p:txBody>
      </p:sp>
    </p:spTree>
    <p:extLst>
      <p:ext uri="{BB962C8B-B14F-4D97-AF65-F5344CB8AC3E}">
        <p14:creationId xmlns:p14="http://schemas.microsoft.com/office/powerpoint/2010/main" val="2910103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610A32-51EB-4832-0350-2FEBABD3E567}"/>
              </a:ext>
            </a:extLst>
          </p:cNvPr>
          <p:cNvSpPr txBox="1"/>
          <p:nvPr/>
        </p:nvSpPr>
        <p:spPr>
          <a:xfrm>
            <a:off x="191718" y="1065228"/>
            <a:ext cx="3709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189C93-C15F-F2D1-F958-A1B5BBDEB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159802"/>
              </p:ext>
            </p:extLst>
          </p:nvPr>
        </p:nvGraphicFramePr>
        <p:xfrm>
          <a:off x="4251489" y="978746"/>
          <a:ext cx="7626284" cy="560758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655708">
                  <a:extLst>
                    <a:ext uri="{9D8B030D-6E8A-4147-A177-3AD203B41FA5}">
                      <a16:colId xmlns:a16="http://schemas.microsoft.com/office/drawing/2014/main" val="2090431355"/>
                    </a:ext>
                  </a:extLst>
                </a:gridCol>
                <a:gridCol w="1533360">
                  <a:extLst>
                    <a:ext uri="{9D8B030D-6E8A-4147-A177-3AD203B41FA5}">
                      <a16:colId xmlns:a16="http://schemas.microsoft.com/office/drawing/2014/main" val="2566113237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2010242000"/>
                    </a:ext>
                  </a:extLst>
                </a:gridCol>
                <a:gridCol w="1574896">
                  <a:extLst>
                    <a:ext uri="{9D8B030D-6E8A-4147-A177-3AD203B41FA5}">
                      <a16:colId xmlns:a16="http://schemas.microsoft.com/office/drawing/2014/main" val="2188371391"/>
                    </a:ext>
                  </a:extLst>
                </a:gridCol>
                <a:gridCol w="1579116">
                  <a:extLst>
                    <a:ext uri="{9D8B030D-6E8A-4147-A177-3AD203B41FA5}">
                      <a16:colId xmlns:a16="http://schemas.microsoft.com/office/drawing/2014/main" val="3913576656"/>
                    </a:ext>
                  </a:extLst>
                </a:gridCol>
                <a:gridCol w="1117013">
                  <a:extLst>
                    <a:ext uri="{9D8B030D-6E8A-4147-A177-3AD203B41FA5}">
                      <a16:colId xmlns:a16="http://schemas.microsoft.com/office/drawing/2014/main" val="3439703329"/>
                    </a:ext>
                  </a:extLst>
                </a:gridCol>
              </a:tblGrid>
              <a:tr h="1551634"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930" marR="0" algn="ctr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US" sz="1600" spc="-3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16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930" marR="381635" algn="ctr">
                        <a:lnSpc>
                          <a:spcPts val="135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scope(work)/ Unaddressed challenges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925542"/>
                  </a:ext>
                </a:extLst>
              </a:tr>
              <a:tr h="2335244"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AI-Based Resume Ranking and Skill Matching Systems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600" dirty="0"/>
                        <a:t>IEEE Xplore (2022)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models comparing resumes and job descriptions using keyword extraction and vector similarity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Lacked contextual understanding and intelligent feedback; could not handle dynamic job contexts.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understanding and intelligent feedback; could not handle dynamic job contexts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579474"/>
                  </a:ext>
                </a:extLst>
              </a:tr>
              <a:tr h="1720706"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NLP Techniques for Resume Parsing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Choudhary et al. (2023), </a:t>
                      </a:r>
                      <a:r>
                        <a:rPr lang="en-US" sz="1600" i="1" dirty="0"/>
                        <a:t>Elsevier Expert Systems with Applications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Applied NLP for parsing resumes into structured </a:t>
                      </a:r>
                      <a:r>
                        <a:rPr lang="en-US" sz="1600" dirty="0" err="1"/>
                        <a:t>components.Improved</a:t>
                      </a:r>
                      <a:r>
                        <a:rPr lang="en-US" sz="1600" dirty="0"/>
                        <a:t> extraction from unformatted resumes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Did not use contextual or LLM-based evaluation;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limited adaptability for varied formats.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600" dirty="0"/>
                        <a:t>Supports parsing module design.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982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56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>
          <a:extLst>
            <a:ext uri="{FF2B5EF4-FFF2-40B4-BE49-F238E27FC236}">
              <a16:creationId xmlns:a16="http://schemas.microsoft.com/office/drawing/2014/main" id="{FBD4AF7B-DC11-8B86-A52B-408260FB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AC600074-5D60-CB8B-9031-C93C7AF8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DEF5D494-C4EF-DFEC-B7F6-3122295DF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1A9436D7-9EE4-2EB0-D15C-D3F5964C5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68703C7D-6470-0925-5EA8-22BFEAD88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4BE806E4-851A-F0DD-DB75-4D403F5E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ECACAEDF-C921-8DAC-25EB-EDDE9C9CD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32C57A5E-F2CD-7288-D3D9-5C7C639F3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BD69B4-651F-93EC-461A-52D1A8D28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9A4DF1-54DC-B89B-E5B2-76FFB97225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9903FA-1532-478D-9AA2-1933BD20A61F}"/>
              </a:ext>
            </a:extLst>
          </p:cNvPr>
          <p:cNvSpPr txBox="1"/>
          <p:nvPr/>
        </p:nvSpPr>
        <p:spPr>
          <a:xfrm>
            <a:off x="191718" y="1065228"/>
            <a:ext cx="3709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AEA210-A789-BDD3-72EA-82872369E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082501"/>
              </p:ext>
            </p:extLst>
          </p:nvPr>
        </p:nvGraphicFramePr>
        <p:xfrm>
          <a:off x="4251489" y="978746"/>
          <a:ext cx="7626284" cy="447584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655708">
                  <a:extLst>
                    <a:ext uri="{9D8B030D-6E8A-4147-A177-3AD203B41FA5}">
                      <a16:colId xmlns:a16="http://schemas.microsoft.com/office/drawing/2014/main" val="2090431355"/>
                    </a:ext>
                  </a:extLst>
                </a:gridCol>
                <a:gridCol w="1334577">
                  <a:extLst>
                    <a:ext uri="{9D8B030D-6E8A-4147-A177-3AD203B41FA5}">
                      <a16:colId xmlns:a16="http://schemas.microsoft.com/office/drawing/2014/main" val="2566113237"/>
                    </a:ext>
                  </a:extLst>
                </a:gridCol>
                <a:gridCol w="1179443">
                  <a:extLst>
                    <a:ext uri="{9D8B030D-6E8A-4147-A177-3AD203B41FA5}">
                      <a16:colId xmlns:a16="http://schemas.microsoft.com/office/drawing/2014/main" val="2010242000"/>
                    </a:ext>
                  </a:extLst>
                </a:gridCol>
                <a:gridCol w="1760427">
                  <a:extLst>
                    <a:ext uri="{9D8B030D-6E8A-4147-A177-3AD203B41FA5}">
                      <a16:colId xmlns:a16="http://schemas.microsoft.com/office/drawing/2014/main" val="2188371391"/>
                    </a:ext>
                  </a:extLst>
                </a:gridCol>
                <a:gridCol w="1579116">
                  <a:extLst>
                    <a:ext uri="{9D8B030D-6E8A-4147-A177-3AD203B41FA5}">
                      <a16:colId xmlns:a16="http://schemas.microsoft.com/office/drawing/2014/main" val="3913576656"/>
                    </a:ext>
                  </a:extLst>
                </a:gridCol>
                <a:gridCol w="1117013">
                  <a:extLst>
                    <a:ext uri="{9D8B030D-6E8A-4147-A177-3AD203B41FA5}">
                      <a16:colId xmlns:a16="http://schemas.microsoft.com/office/drawing/2014/main" val="3439703329"/>
                    </a:ext>
                  </a:extLst>
                </a:gridCol>
              </a:tblGrid>
              <a:tr h="1062089"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930" marR="0" algn="ctr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US" sz="1600" spc="-3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16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930" marR="381635" algn="ctr">
                        <a:lnSpc>
                          <a:spcPts val="135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scope(work)/ Unaddressed challenges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925542"/>
                  </a:ext>
                </a:extLst>
              </a:tr>
              <a:tr h="449897"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Automated Resume Generation through Web-Based Systems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Sharma and Patel (2023), </a:t>
                      </a:r>
                      <a:r>
                        <a:rPr lang="en-US" sz="1600" i="1" dirty="0"/>
                        <a:t>IJIRSET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Developed a web tool for auto-generating resumes from user input; improved usability and formatting.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Lacked ATS scoring and smart feedback for optimization.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Reference for resume builder module.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360982"/>
                  </a:ext>
                </a:extLst>
              </a:tr>
              <a:tr h="603207">
                <a:tc>
                  <a:txBody>
                    <a:bodyPr/>
                    <a:lstStyle/>
                    <a:p>
                      <a:pPr marL="74930" marR="0" algn="ctr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LLM-Based Resume and Job Matching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Singh and Deshmukh (2024), </a:t>
                      </a:r>
                      <a:r>
                        <a:rPr lang="en-US" sz="1600" i="1" dirty="0"/>
                        <a:t>Springer Journal of Applied Computing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Used Large Language Models for semantic similarity between resumes and job descriptions; improved candidate-job alignment.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/>
                        <a:t>Highlighted the potential of GenAI systems for intelligent matching; scope to integrate prompt-based LLM pipelines.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600" dirty="0"/>
                        <a:t>Core reference for GenAI-driven resume analysis.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66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036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9B8255-0F8D-D549-9BE1-92C686926AA2}"/>
              </a:ext>
            </a:extLst>
          </p:cNvPr>
          <p:cNvSpPr txBox="1"/>
          <p:nvPr/>
        </p:nvSpPr>
        <p:spPr>
          <a:xfrm>
            <a:off x="84841" y="1065228"/>
            <a:ext cx="3816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Project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7124C-3A83-70D6-53FB-F173299CFE2A}"/>
              </a:ext>
            </a:extLst>
          </p:cNvPr>
          <p:cNvSpPr txBox="1"/>
          <p:nvPr/>
        </p:nvSpPr>
        <p:spPr>
          <a:xfrm>
            <a:off x="4788816" y="927698"/>
            <a:ext cx="6165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9CFC3-3920-2A15-CCE5-09C8BC701CDB}"/>
              </a:ext>
            </a:extLst>
          </p:cNvPr>
          <p:cNvSpPr txBox="1"/>
          <p:nvPr/>
        </p:nvSpPr>
        <p:spPr>
          <a:xfrm>
            <a:off x="4320209" y="791820"/>
            <a:ext cx="7421217" cy="5661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 (GenAI) and LLM-powered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platform that automates both resume analysis and resume creation.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and context-aware comparison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resumes and job descriptions, improving candidate-job alignment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analyzer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provides detailed insights such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score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skills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improvement suggestions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builder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allows users to generate professional, ATS-friendly resumes through an interactive form-based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LLM-driven prompt engineering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intelligent feedback, enhancing the user’s understanding of their resume strengths and weaknesses.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scalable, user-friendly, and secure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application using modern technologies —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React.js, TypeScript, Tailwind CSS, Node.js, Express.js, and MongoDB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bridge the gap between job seekers and recruiters by offering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smart, automated, and explainable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solution for digital recruitment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55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AF4FE-1DFF-2F9B-83FD-7952353D0028}"/>
              </a:ext>
            </a:extLst>
          </p:cNvPr>
          <p:cNvSpPr txBox="1"/>
          <p:nvPr/>
        </p:nvSpPr>
        <p:spPr>
          <a:xfrm>
            <a:off x="84841" y="1065228"/>
            <a:ext cx="3816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942B5-A115-1C14-C250-7ABFB4773D72}"/>
              </a:ext>
            </a:extLst>
          </p:cNvPr>
          <p:cNvSpPr txBox="1"/>
          <p:nvPr/>
        </p:nvSpPr>
        <p:spPr>
          <a:xfrm>
            <a:off x="4411743" y="789198"/>
            <a:ext cx="70810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System Architecture Design</a:t>
            </a:r>
          </a:p>
          <a:p>
            <a:r>
              <a:rPr lang="en-US" dirty="0"/>
              <a:t>The system consists of two main layers:</a:t>
            </a:r>
          </a:p>
          <a:p>
            <a:r>
              <a:rPr lang="en-US" b="1" dirty="0"/>
              <a:t>Frontend (User Interface):</a:t>
            </a:r>
            <a:br>
              <a:rPr lang="en-US" dirty="0"/>
            </a:br>
            <a:r>
              <a:rPr lang="en-US" dirty="0"/>
              <a:t>Built using </a:t>
            </a:r>
            <a:r>
              <a:rPr lang="en-US" b="1" dirty="0"/>
              <a:t>React.js</a:t>
            </a:r>
            <a:r>
              <a:rPr lang="en-US" dirty="0"/>
              <a:t>, </a:t>
            </a:r>
            <a:r>
              <a:rPr lang="en-US" b="1" dirty="0"/>
              <a:t>TypeScript</a:t>
            </a:r>
            <a:r>
              <a:rPr lang="en-US" dirty="0"/>
              <a:t>, and </a:t>
            </a:r>
            <a:r>
              <a:rPr lang="en-US" b="1" dirty="0"/>
              <a:t>Tailwind CSS</a:t>
            </a:r>
            <a:r>
              <a:rPr lang="en-US" dirty="0"/>
              <a:t>, providing an interactive and responsive experience. Users can upload resumes, enter job descriptions, or fill forms for resume generation.</a:t>
            </a:r>
          </a:p>
          <a:p>
            <a:r>
              <a:rPr lang="en-US" b="1" dirty="0"/>
              <a:t>Backend (Server &amp; Database):</a:t>
            </a:r>
            <a:br>
              <a:rPr lang="en-US" dirty="0"/>
            </a:br>
            <a:r>
              <a:rPr lang="en-US" dirty="0"/>
              <a:t>Developed using </a:t>
            </a:r>
            <a:r>
              <a:rPr lang="en-US" b="1" dirty="0"/>
              <a:t>Node.js</a:t>
            </a:r>
            <a:r>
              <a:rPr lang="en-US" dirty="0"/>
              <a:t> and </a:t>
            </a:r>
            <a:r>
              <a:rPr lang="en-US" b="1" dirty="0"/>
              <a:t>Express.js</a:t>
            </a:r>
            <a:r>
              <a:rPr lang="en-US" dirty="0"/>
              <a:t>, with </a:t>
            </a:r>
            <a:r>
              <a:rPr lang="en-US" b="1" dirty="0"/>
              <a:t>MongoDB</a:t>
            </a:r>
            <a:r>
              <a:rPr lang="en-US" dirty="0"/>
              <a:t> as the database for storing user profiles, parsed resume data, and generated resumes.</a:t>
            </a:r>
          </a:p>
          <a:p>
            <a:r>
              <a:rPr lang="en-US" b="1" dirty="0"/>
              <a:t>Intelligence Layer (GenAI + LLM):</a:t>
            </a:r>
            <a:br>
              <a:rPr lang="en-US" dirty="0"/>
            </a:br>
            <a:r>
              <a:rPr lang="en-US" dirty="0"/>
              <a:t>This layer processes parsed text using </a:t>
            </a:r>
            <a:r>
              <a:rPr lang="en-US" b="1" dirty="0"/>
              <a:t>LLM-based prompts</a:t>
            </a:r>
            <a:r>
              <a:rPr lang="en-US" dirty="0"/>
              <a:t> for resume analysis. It generates responses for ATS scoring, missing skills, and resume summaries.</a:t>
            </a:r>
          </a:p>
        </p:txBody>
      </p:sp>
    </p:spTree>
    <p:extLst>
      <p:ext uri="{BB962C8B-B14F-4D97-AF65-F5344CB8AC3E}">
        <p14:creationId xmlns:p14="http://schemas.microsoft.com/office/powerpoint/2010/main" val="279718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>
          <a:extLst>
            <a:ext uri="{FF2B5EF4-FFF2-40B4-BE49-F238E27FC236}">
              <a16:creationId xmlns:a16="http://schemas.microsoft.com/office/drawing/2014/main" id="{80B2567A-3F90-9AA2-043E-F3EDC8A88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B609F492-D018-DFD0-3E2E-1DB857CA1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29681FF7-FF25-6AE5-1CFD-7FD417F0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867897FD-11AA-088E-28DF-5B59DBF0C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AEDB6627-3D79-EBFB-3E9F-5782782B4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5260A76D-7B4B-55DE-7CE6-5FAFFC79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AF674351-F92E-82DA-C7F6-ACE08C2C1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AB02852A-C08B-567D-1327-610BD93A4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3DD357-F88A-BF46-913E-F51214896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4CA73D-0926-FFF8-2B85-76D01D3EF4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EB8D89-B476-1A97-BC49-0DBC6E932596}"/>
              </a:ext>
            </a:extLst>
          </p:cNvPr>
          <p:cNvSpPr txBox="1"/>
          <p:nvPr/>
        </p:nvSpPr>
        <p:spPr>
          <a:xfrm>
            <a:off x="-168405" y="956197"/>
            <a:ext cx="3816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32AD8-BE1E-DEC0-26EA-900260F35455}"/>
              </a:ext>
            </a:extLst>
          </p:cNvPr>
          <p:cNvSpPr txBox="1"/>
          <p:nvPr/>
        </p:nvSpPr>
        <p:spPr>
          <a:xfrm>
            <a:off x="4411743" y="789198"/>
            <a:ext cx="708101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Methodology</a:t>
            </a:r>
          </a:p>
          <a:p>
            <a:r>
              <a:rPr lang="en-US" sz="2000" b="1" dirty="0"/>
              <a:t>Phase 1: Resume Analysis Module</a:t>
            </a:r>
          </a:p>
          <a:p>
            <a:r>
              <a:rPr lang="en-US" sz="2000" b="1" dirty="0"/>
              <a:t>Input Upload:</a:t>
            </a:r>
            <a:br>
              <a:rPr lang="en-US" sz="2000" dirty="0"/>
            </a:br>
            <a:r>
              <a:rPr lang="en-US" sz="2000" dirty="0"/>
              <a:t>The user uploads a resume (PDF/DOCX) and a job description.</a:t>
            </a:r>
          </a:p>
          <a:p>
            <a:r>
              <a:rPr lang="en-US" sz="2000" b="1" dirty="0"/>
              <a:t>Resume Parsing:</a:t>
            </a:r>
            <a:br>
              <a:rPr lang="en-US" sz="2000" dirty="0"/>
            </a:br>
            <a:r>
              <a:rPr lang="en-US" sz="2000" dirty="0"/>
              <a:t>The backend extracts textual information using text extraction and structuring techniques.</a:t>
            </a:r>
            <a:br>
              <a:rPr lang="en-US" sz="2000" dirty="0"/>
            </a:br>
            <a:r>
              <a:rPr lang="en-US" sz="2000" dirty="0"/>
              <a:t>Parsed data includes sections like name, contact, education, skills, experience, and projects.</a:t>
            </a:r>
          </a:p>
          <a:p>
            <a:r>
              <a:rPr lang="en-US" sz="2000" b="1" dirty="0"/>
              <a:t>Data Processing with LLM:</a:t>
            </a:r>
            <a:br>
              <a:rPr lang="en-US" sz="2000" dirty="0"/>
            </a:br>
            <a:r>
              <a:rPr lang="en-US" sz="2000" dirty="0"/>
              <a:t>The extracted text and job description are passed to the </a:t>
            </a:r>
            <a:r>
              <a:rPr lang="en-US" sz="2000" b="1" dirty="0"/>
              <a:t>LLM</a:t>
            </a:r>
            <a:r>
              <a:rPr lang="en-US" sz="2000" dirty="0"/>
              <a:t> through predefined prompts to evaluate:</a:t>
            </a:r>
          </a:p>
          <a:p>
            <a:pPr lvl="1"/>
            <a:r>
              <a:rPr lang="en-US" sz="2000" b="1" dirty="0"/>
              <a:t>ATS Score</a:t>
            </a:r>
            <a:r>
              <a:rPr lang="en-US" sz="2000" dirty="0"/>
              <a:t> -</a:t>
            </a:r>
            <a:r>
              <a:rPr lang="en-US" sz="2000" b="1" dirty="0"/>
              <a:t>Missing Score</a:t>
            </a:r>
            <a:r>
              <a:rPr lang="en-US" sz="2000" dirty="0"/>
              <a:t> -</a:t>
            </a:r>
            <a:r>
              <a:rPr lang="en-US" sz="2000" b="1" dirty="0"/>
              <a:t>Tell Me About Resume</a:t>
            </a:r>
            <a:r>
              <a:rPr lang="en-US" sz="2000" dirty="0"/>
              <a:t> — </a:t>
            </a:r>
            <a:r>
              <a:rPr lang="en-US" sz="2000" i="1" dirty="0"/>
              <a:t>(Future development: Chatbot for personalized suggestions.)</a:t>
            </a:r>
            <a:endParaRPr lang="en-US" sz="2000" dirty="0"/>
          </a:p>
          <a:p>
            <a:r>
              <a:rPr lang="en-US" sz="2000" b="1" dirty="0"/>
              <a:t>Result Display:</a:t>
            </a:r>
            <a:br>
              <a:rPr lang="en-US" sz="2000" dirty="0"/>
            </a:br>
            <a:r>
              <a:rPr lang="en-US" sz="2000" dirty="0"/>
              <a:t>The analyzed results are displayed through a dashboard with scores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783968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>
          <a:extLst>
            <a:ext uri="{FF2B5EF4-FFF2-40B4-BE49-F238E27FC236}">
              <a16:creationId xmlns:a16="http://schemas.microsoft.com/office/drawing/2014/main" id="{53531EDB-B252-E3A5-E9BA-75C1202F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16F418FF-F689-92BE-6FF0-D9A53E7C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2E4CAE85-1DFF-9598-497C-787E8180F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BBCE2B86-9427-75DE-B965-169F78726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30018DFF-A141-7524-CCD8-A1A14CCF0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99B3A78A-CE5C-053E-44FB-064D24D66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7448F8D2-028A-8BCA-A256-CF9562A7E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2BA7D788-0847-3873-7D75-DD3ABE699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2ACD95-61D6-03B1-A4C6-3ADAF393B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3EC611-0FB4-44D9-3925-B7EAFA4FE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D94FAA-B669-B995-9EBF-F14F1806A815}"/>
              </a:ext>
            </a:extLst>
          </p:cNvPr>
          <p:cNvSpPr txBox="1"/>
          <p:nvPr/>
        </p:nvSpPr>
        <p:spPr>
          <a:xfrm>
            <a:off x="84841" y="1065228"/>
            <a:ext cx="3816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31A0B-627D-AB27-CE0E-6A05F6E92F90}"/>
              </a:ext>
            </a:extLst>
          </p:cNvPr>
          <p:cNvSpPr txBox="1"/>
          <p:nvPr/>
        </p:nvSpPr>
        <p:spPr>
          <a:xfrm>
            <a:off x="4411743" y="789198"/>
            <a:ext cx="70810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Phase 2: Resume Builder Module</a:t>
            </a:r>
          </a:p>
          <a:p>
            <a:endParaRPr lang="en-US" sz="2000" b="1" dirty="0"/>
          </a:p>
          <a:p>
            <a:r>
              <a:rPr lang="en-US" sz="2000" b="1" dirty="0"/>
              <a:t>User Authentication:</a:t>
            </a:r>
            <a:br>
              <a:rPr lang="en-US" sz="2000" dirty="0"/>
            </a:br>
            <a:r>
              <a:rPr lang="en-US" sz="2000" dirty="0"/>
              <a:t>Users log in securely to access the resume builder feature.</a:t>
            </a:r>
          </a:p>
          <a:p>
            <a:r>
              <a:rPr lang="en-US" sz="2000" b="1" dirty="0"/>
              <a:t>Form-Based Input Collection:</a:t>
            </a:r>
            <a:br>
              <a:rPr lang="en-US" sz="2000" dirty="0"/>
            </a:br>
            <a:r>
              <a:rPr lang="en-US" sz="2000" dirty="0"/>
              <a:t>The system provides step-by-step input fields for personal details, education, projects, experience, and skills.</a:t>
            </a:r>
          </a:p>
          <a:p>
            <a:r>
              <a:rPr lang="en-US" sz="2000" b="1" dirty="0"/>
              <a:t>Dynamic Resume Generation:</a:t>
            </a:r>
            <a:br>
              <a:rPr lang="en-US" sz="2000" dirty="0"/>
            </a:br>
            <a:r>
              <a:rPr lang="en-US" sz="2000" dirty="0"/>
              <a:t>Based on inputs, the backend automatically structures and formats the data into a </a:t>
            </a:r>
            <a:r>
              <a:rPr lang="en-US" sz="2000" b="1" dirty="0"/>
              <a:t>professionally designed resume template</a:t>
            </a:r>
            <a:r>
              <a:rPr lang="en-US" sz="2000" dirty="0"/>
              <a:t>.</a:t>
            </a:r>
          </a:p>
          <a:p>
            <a:r>
              <a:rPr lang="en-US" sz="2000" b="1" dirty="0"/>
              <a:t>Downloadable Resume:</a:t>
            </a:r>
            <a:br>
              <a:rPr lang="en-US" sz="2000" dirty="0"/>
            </a:br>
            <a:r>
              <a:rPr lang="en-US" sz="2000" dirty="0"/>
              <a:t>The user can view, edit, and download the generated resume in PDF format.</a:t>
            </a:r>
          </a:p>
        </p:txBody>
      </p:sp>
    </p:spTree>
    <p:extLst>
      <p:ext uri="{BB962C8B-B14F-4D97-AF65-F5344CB8AC3E}">
        <p14:creationId xmlns:p14="http://schemas.microsoft.com/office/powerpoint/2010/main" val="237937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AF4FE-1DFF-2F9B-83FD-7952353D0028}"/>
              </a:ext>
            </a:extLst>
          </p:cNvPr>
          <p:cNvSpPr txBox="1"/>
          <p:nvPr/>
        </p:nvSpPr>
        <p:spPr>
          <a:xfrm>
            <a:off x="84841" y="1065228"/>
            <a:ext cx="3816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Proposed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942B5-A115-1C14-C250-7ABFB4773D72}"/>
              </a:ext>
            </a:extLst>
          </p:cNvPr>
          <p:cNvSpPr txBox="1"/>
          <p:nvPr/>
        </p:nvSpPr>
        <p:spPr>
          <a:xfrm>
            <a:off x="4613663" y="964894"/>
            <a:ext cx="708101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Applicability for Society: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Improves Job Readiness:</a:t>
            </a:r>
            <a:r>
              <a:rPr lang="en-US" dirty="0"/>
              <a:t> Helps users create professional, ATS-friendly resumes and understand how well they match job requirements.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Promotes Fair Hiring:</a:t>
            </a:r>
            <a:r>
              <a:rPr lang="en-US" dirty="0"/>
              <a:t> Uses GenAI-based evaluation to reduce manual bias in resume screening.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Saves Time:</a:t>
            </a:r>
            <a:r>
              <a:rPr lang="en-US" dirty="0"/>
              <a:t> Automates resume analysis and generation, benefiting both applicants and recruiters.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Guides Skill Development:</a:t>
            </a:r>
            <a:r>
              <a:rPr lang="en-US" dirty="0"/>
              <a:t> Provides personalized suggestions to improve resumes and career profiles.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Accessible for Everyone:</a:t>
            </a:r>
            <a:r>
              <a:rPr lang="en-US" dirty="0"/>
              <a:t> Simple web interface allows anyone, even without technical knowledge, to build a strong resume.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Supports Digital Recruitment:</a:t>
            </a:r>
            <a:r>
              <a:rPr lang="en-US" dirty="0"/>
              <a:t> Encourages smarter, GenAI-driven hiring processes in the modern job market.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3256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AF4FE-1DFF-2F9B-83FD-7952353D0028}"/>
              </a:ext>
            </a:extLst>
          </p:cNvPr>
          <p:cNvSpPr txBox="1"/>
          <p:nvPr/>
        </p:nvSpPr>
        <p:spPr>
          <a:xfrm>
            <a:off x="84841" y="1065228"/>
            <a:ext cx="3816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Platform Requirement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8FA0E-2100-17ED-9A5F-3E54A6A2F96B}"/>
              </a:ext>
            </a:extLst>
          </p:cNvPr>
          <p:cNvSpPr txBox="1"/>
          <p:nvPr/>
        </p:nvSpPr>
        <p:spPr>
          <a:xfrm>
            <a:off x="4521778" y="511388"/>
            <a:ext cx="708101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Software Requirements:</a:t>
            </a:r>
          </a:p>
          <a:p>
            <a:pPr lvl="1"/>
            <a:r>
              <a:rPr lang="en-IN" b="1" dirty="0"/>
              <a:t>Operating System:</a:t>
            </a:r>
            <a:r>
              <a:rPr lang="en-IN" dirty="0"/>
              <a:t> Windows / macOS / Linux</a:t>
            </a:r>
          </a:p>
          <a:p>
            <a:pPr lvl="1"/>
            <a:r>
              <a:rPr lang="en-IN" b="1" dirty="0"/>
              <a:t>Frontend Technologies:</a:t>
            </a:r>
            <a:r>
              <a:rPr lang="en-IN" dirty="0"/>
              <a:t> React.js, TypeScript, Tailwind CSS</a:t>
            </a:r>
          </a:p>
          <a:p>
            <a:pPr lvl="1"/>
            <a:r>
              <a:rPr lang="en-IN" b="1" dirty="0"/>
              <a:t>Backend Technologies:</a:t>
            </a:r>
            <a:r>
              <a:rPr lang="en-IN" dirty="0"/>
              <a:t> Node.js, Express.js</a:t>
            </a:r>
          </a:p>
          <a:p>
            <a:pPr lvl="1"/>
            <a:r>
              <a:rPr lang="en-IN" b="1" dirty="0"/>
              <a:t>Database:</a:t>
            </a:r>
            <a:r>
              <a:rPr lang="en-IN" dirty="0"/>
              <a:t> MongoDB</a:t>
            </a:r>
          </a:p>
          <a:p>
            <a:pPr lvl="1"/>
            <a:r>
              <a:rPr lang="en-IN" b="1" dirty="0"/>
              <a:t>Development Tools:</a:t>
            </a:r>
            <a:endParaRPr lang="en-IN" dirty="0"/>
          </a:p>
          <a:p>
            <a:pPr lvl="2"/>
            <a:r>
              <a:rPr lang="en-IN" dirty="0"/>
              <a:t>Visual Studio Code (IDE)</a:t>
            </a:r>
          </a:p>
          <a:p>
            <a:pPr lvl="2"/>
            <a:r>
              <a:rPr lang="en-IN" dirty="0"/>
              <a:t>Postman (API testing)</a:t>
            </a:r>
          </a:p>
          <a:p>
            <a:pPr lvl="2"/>
            <a:r>
              <a:rPr lang="en-IN" dirty="0"/>
              <a:t>Git &amp; GitHub (version control)</a:t>
            </a:r>
          </a:p>
          <a:p>
            <a:pPr lvl="2"/>
            <a:r>
              <a:rPr lang="en-IN" dirty="0"/>
              <a:t>Figma (UI/UX design)</a:t>
            </a:r>
          </a:p>
          <a:p>
            <a:pPr lvl="1"/>
            <a:r>
              <a:rPr lang="en-IN" b="1" dirty="0"/>
              <a:t>LLM Integration:</a:t>
            </a:r>
            <a:r>
              <a:rPr lang="en-IN" dirty="0"/>
              <a:t> Generative AI API / LLM-based text analysis engine</a:t>
            </a:r>
          </a:p>
          <a:p>
            <a:pPr lvl="1"/>
            <a:r>
              <a:rPr lang="en-IN" b="1" dirty="0"/>
              <a:t>Browser Compatibility:</a:t>
            </a:r>
            <a:r>
              <a:rPr lang="en-IN" dirty="0"/>
              <a:t> Google Chrome, Microsoft Edge, Firefox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Hardware Requirements:</a:t>
            </a:r>
          </a:p>
          <a:p>
            <a:pPr lvl="1"/>
            <a:r>
              <a:rPr lang="en-IN" b="1" dirty="0"/>
              <a:t>Processor:</a:t>
            </a:r>
            <a:r>
              <a:rPr lang="en-IN" dirty="0"/>
              <a:t> Intel i5 / AMD equivalent or higher</a:t>
            </a:r>
          </a:p>
          <a:p>
            <a:pPr lvl="1"/>
            <a:r>
              <a:rPr lang="en-IN" b="1" dirty="0"/>
              <a:t>RAM:</a:t>
            </a:r>
            <a:r>
              <a:rPr lang="en-IN" dirty="0"/>
              <a:t> Minimum 8 GB</a:t>
            </a:r>
          </a:p>
          <a:p>
            <a:pPr lvl="1"/>
            <a:r>
              <a:rPr lang="en-IN" b="1" dirty="0"/>
              <a:t>Storage:</a:t>
            </a:r>
            <a:r>
              <a:rPr lang="en-IN" dirty="0"/>
              <a:t> Minimum 256 GB HDD or SSD recommended</a:t>
            </a:r>
          </a:p>
          <a:p>
            <a:pPr lvl="1"/>
            <a:r>
              <a:rPr lang="en-IN" b="1" dirty="0"/>
              <a:t>Internet Connection:</a:t>
            </a:r>
            <a:r>
              <a:rPr lang="en-IN" dirty="0"/>
              <a:t> Required for GenAI/LLM API calls and web deployment</a:t>
            </a:r>
          </a:p>
          <a:p>
            <a:pPr lvl="1"/>
            <a:r>
              <a:rPr lang="en-IN" b="1" dirty="0"/>
              <a:t>Display:</a:t>
            </a:r>
            <a:r>
              <a:rPr lang="en-IN" dirty="0"/>
              <a:t> 1366×768 resolution or higher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5229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AF4FE-1DFF-2F9B-83FD-7952353D0028}"/>
              </a:ext>
            </a:extLst>
          </p:cNvPr>
          <p:cNvSpPr txBox="1"/>
          <p:nvPr/>
        </p:nvSpPr>
        <p:spPr>
          <a:xfrm>
            <a:off x="84841" y="1065228"/>
            <a:ext cx="3816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F1705-ED0F-8E09-710F-002979AF382D}"/>
              </a:ext>
            </a:extLst>
          </p:cNvPr>
          <p:cNvSpPr txBox="1"/>
          <p:nvPr/>
        </p:nvSpPr>
        <p:spPr>
          <a:xfrm>
            <a:off x="4483891" y="893110"/>
            <a:ext cx="72045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Conclusion: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Resume Analyzer and Builder</a:t>
            </a:r>
            <a:r>
              <a:rPr lang="en-US" sz="2000" dirty="0"/>
              <a:t> project successfully combines </a:t>
            </a:r>
            <a:r>
              <a:rPr lang="en-US" sz="2000" b="1" dirty="0"/>
              <a:t>Generative AI (GenAI)</a:t>
            </a:r>
            <a:r>
              <a:rPr lang="en-US" sz="2000" dirty="0"/>
              <a:t> and </a:t>
            </a:r>
            <a:r>
              <a:rPr lang="en-US" sz="2000" b="1" dirty="0"/>
              <a:t>Large Language Models (LLMs)</a:t>
            </a:r>
            <a:r>
              <a:rPr lang="en-US" sz="2000" dirty="0"/>
              <a:t> to simplify and enhance the resume creation and evaluation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It offers users intelligent insights such as </a:t>
            </a:r>
            <a:r>
              <a:rPr lang="en-US" sz="2000" b="1" dirty="0"/>
              <a:t>ATS scoring</a:t>
            </a:r>
            <a:r>
              <a:rPr lang="en-US" sz="2000" dirty="0"/>
              <a:t>, </a:t>
            </a:r>
            <a:r>
              <a:rPr lang="en-US" sz="2000" b="1" dirty="0"/>
              <a:t>missing skill detection</a:t>
            </a:r>
            <a:r>
              <a:rPr lang="en-US" sz="2000" dirty="0"/>
              <a:t>, and </a:t>
            </a:r>
            <a:r>
              <a:rPr lang="en-US" sz="2000" b="1" dirty="0"/>
              <a:t>context-aware recommendations</a:t>
            </a:r>
            <a:r>
              <a:rPr lang="en-US" sz="2000" dirty="0"/>
              <a:t>, helping them align better with job requirements.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integrated </a:t>
            </a:r>
            <a:r>
              <a:rPr lang="en-US" sz="2000" b="1" dirty="0"/>
              <a:t>resume builder</a:t>
            </a:r>
            <a:r>
              <a:rPr lang="en-US" sz="2000" dirty="0"/>
              <a:t> further allows users to generate professional, structured resumes effortlessly.</a:t>
            </a:r>
          </a:p>
        </p:txBody>
      </p:sp>
    </p:spTree>
    <p:extLst>
      <p:ext uri="{BB962C8B-B14F-4D97-AF65-F5344CB8AC3E}">
        <p14:creationId xmlns:p14="http://schemas.microsoft.com/office/powerpoint/2010/main" val="3543366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>
          <a:extLst>
            <a:ext uri="{FF2B5EF4-FFF2-40B4-BE49-F238E27FC236}">
              <a16:creationId xmlns:a16="http://schemas.microsoft.com/office/drawing/2014/main" id="{CC689356-E48D-357E-76FB-BB9BF5E73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E106FE81-2288-1F06-A300-DD8242E6E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4DFDE22C-DAC7-7DAC-EBC4-E80602BC2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D175C058-A6C2-C211-4B56-E80611BF7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E9DE93E9-C5B2-CC2D-C532-A579EBD3B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064B32B7-AE75-B7C3-3857-43985A66C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8E1CB257-0F94-3F61-4349-FCD24A32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170B9F1D-356A-2138-823C-0371720E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657D70-7F73-8E24-C22C-B1ED0123A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4D4E3A-FE23-C7B2-FDE7-A0E16B81B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76767A-3933-403B-959F-F1BC05C8FEBC}"/>
              </a:ext>
            </a:extLst>
          </p:cNvPr>
          <p:cNvSpPr txBox="1"/>
          <p:nvPr/>
        </p:nvSpPr>
        <p:spPr>
          <a:xfrm>
            <a:off x="84841" y="1065228"/>
            <a:ext cx="3816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E0284-F8D5-1E60-1C9C-29A3073367F4}"/>
              </a:ext>
            </a:extLst>
          </p:cNvPr>
          <p:cNvSpPr txBox="1"/>
          <p:nvPr/>
        </p:nvSpPr>
        <p:spPr>
          <a:xfrm>
            <a:off x="4483892" y="893110"/>
            <a:ext cx="751639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Future Work: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LLM Integration:</a:t>
            </a:r>
            <a:r>
              <a:rPr lang="en-US" dirty="0"/>
              <a:t> Add Large Language Model–based resume and job description analysis for contextual evaluation.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ATS &amp; Skill Scoring:</a:t>
            </a:r>
            <a:r>
              <a:rPr lang="en-US" dirty="0"/>
              <a:t> Implement ATS score and missing skill detection features.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Chatbot Support:</a:t>
            </a:r>
            <a:r>
              <a:rPr lang="en-US" dirty="0"/>
              <a:t> Introduce a GenAI-powered chatbot for resume improvement suggestions.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Job Matching:</a:t>
            </a:r>
            <a:r>
              <a:rPr lang="en-US" dirty="0"/>
              <a:t> Develop a smart system to recommend suitable jobs based on user profiles.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More Templates:</a:t>
            </a:r>
            <a:r>
              <a:rPr lang="en-US" dirty="0"/>
              <a:t> Add new, customizable resume templates for different career fields.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Multi-language Support:</a:t>
            </a:r>
            <a:r>
              <a:rPr lang="en-US" dirty="0"/>
              <a:t> Enable resume creation and analysis in multiple languages.</a:t>
            </a:r>
          </a:p>
        </p:txBody>
      </p:sp>
    </p:spTree>
    <p:extLst>
      <p:ext uri="{BB962C8B-B14F-4D97-AF65-F5344CB8AC3E}">
        <p14:creationId xmlns:p14="http://schemas.microsoft.com/office/powerpoint/2010/main" val="134070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AF4FE-1DFF-2F9B-83FD-7952353D0028}"/>
              </a:ext>
            </a:extLst>
          </p:cNvPr>
          <p:cNvSpPr txBox="1"/>
          <p:nvPr/>
        </p:nvSpPr>
        <p:spPr>
          <a:xfrm>
            <a:off x="84841" y="1065228"/>
            <a:ext cx="3816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71A58-A8E2-A7F7-0D7D-A58DF10DBFF9}"/>
              </a:ext>
            </a:extLst>
          </p:cNvPr>
          <p:cNvSpPr txBox="1"/>
          <p:nvPr/>
        </p:nvSpPr>
        <p:spPr>
          <a:xfrm>
            <a:off x="4572880" y="1065228"/>
            <a:ext cx="70810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References:</a:t>
            </a:r>
            <a:endParaRPr lang="en-IN" dirty="0"/>
          </a:p>
          <a:p>
            <a:r>
              <a:rPr lang="en-IN" dirty="0"/>
              <a:t>IEEE Xplore (2022), </a:t>
            </a:r>
            <a:r>
              <a:rPr lang="en-IN" i="1" dirty="0"/>
              <a:t>AI-Based Resume Ranking and Skill Matching Systems</a:t>
            </a:r>
            <a:r>
              <a:rPr lang="en-IN" dirty="0"/>
              <a:t>.</a:t>
            </a:r>
          </a:p>
          <a:p>
            <a:r>
              <a:rPr lang="en-IN" dirty="0"/>
              <a:t>Choudhary et al. (2023), </a:t>
            </a:r>
            <a:r>
              <a:rPr lang="en-IN" i="1" dirty="0"/>
              <a:t>NLP Techniques for Resume Parsing</a:t>
            </a:r>
            <a:r>
              <a:rPr lang="en-IN" dirty="0"/>
              <a:t>, Elsevier – </a:t>
            </a:r>
            <a:r>
              <a:rPr lang="en-IN" i="1" dirty="0"/>
              <a:t>Expert Systems with Applications</a:t>
            </a:r>
            <a:r>
              <a:rPr lang="en-IN" dirty="0"/>
              <a:t>.</a:t>
            </a:r>
          </a:p>
          <a:p>
            <a:r>
              <a:rPr lang="en-IN" dirty="0"/>
              <a:t>Singh and Deshmukh (2024), </a:t>
            </a:r>
            <a:r>
              <a:rPr lang="en-IN" i="1" dirty="0"/>
              <a:t>LLM-Based Resume and Job Matching</a:t>
            </a:r>
            <a:r>
              <a:rPr lang="en-IN" dirty="0"/>
              <a:t>, Springer – </a:t>
            </a:r>
            <a:r>
              <a:rPr lang="en-IN" i="1" dirty="0"/>
              <a:t>Journal of Applied Computing</a:t>
            </a:r>
            <a:r>
              <a:rPr lang="en-IN" dirty="0"/>
              <a:t>.</a:t>
            </a:r>
          </a:p>
          <a:p>
            <a:r>
              <a:rPr lang="en-IN" dirty="0"/>
              <a:t>Sharma and Patel (2023), </a:t>
            </a:r>
            <a:r>
              <a:rPr lang="en-IN" i="1" dirty="0"/>
              <a:t>Automated Resume Generation through Web-Based Systems</a:t>
            </a:r>
            <a:r>
              <a:rPr lang="en-IN" dirty="0"/>
              <a:t>, IJIRSET.</a:t>
            </a:r>
          </a:p>
          <a:p>
            <a:r>
              <a:rPr lang="en-IN" dirty="0"/>
              <a:t>Verma and Rao (2024), </a:t>
            </a:r>
            <a:r>
              <a:rPr lang="en-IN" i="1" dirty="0"/>
              <a:t>Transformer-Based Contextual Evaluation Models</a:t>
            </a:r>
            <a:r>
              <a:rPr lang="en-IN" dirty="0"/>
              <a:t>, ACM Digital Library.</a:t>
            </a:r>
          </a:p>
          <a:p>
            <a:r>
              <a:rPr lang="en-IN" dirty="0"/>
              <a:t>Wang and Chen (2024), </a:t>
            </a:r>
            <a:r>
              <a:rPr lang="en-IN" i="1" dirty="0" err="1"/>
              <a:t>ResumeAtlas</a:t>
            </a:r>
            <a:r>
              <a:rPr lang="en-IN" i="1" dirty="0"/>
              <a:t>: Resume Classification using Large Language Models</a:t>
            </a:r>
            <a:r>
              <a:rPr lang="en-IN" dirty="0"/>
              <a:t>, </a:t>
            </a:r>
            <a:r>
              <a:rPr lang="en-IN" dirty="0" err="1"/>
              <a:t>arXiv</a:t>
            </a:r>
            <a:r>
              <a:rPr lang="en-IN" dirty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89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6">
          <a:extLst>
            <a:ext uri="{FF2B5EF4-FFF2-40B4-BE49-F238E27FC236}">
              <a16:creationId xmlns:a16="http://schemas.microsoft.com/office/drawing/2014/main" id="{DC27DE20-2C80-1EFB-ACDA-C4694404D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1" name="Rectangle 1320">
            <a:extLst>
              <a:ext uri="{FF2B5EF4-FFF2-40B4-BE49-F238E27FC236}">
                <a16:creationId xmlns:a16="http://schemas.microsoft.com/office/drawing/2014/main" id="{30E2CA83-69AD-1F87-14F7-2F63E428F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23" name="Rectangle 1322">
            <a:extLst>
              <a:ext uri="{FF2B5EF4-FFF2-40B4-BE49-F238E27FC236}">
                <a16:creationId xmlns:a16="http://schemas.microsoft.com/office/drawing/2014/main" id="{E7D5F594-3156-1E96-FB0B-50D7DED44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F2D335A0-95E2-570E-502B-91A73964B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6A319929-389D-4410-0F57-B9B4D91F2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51A496C1-E058-C1FC-A59F-BDFBA3E96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1" name="Freeform: Shape 1330">
            <a:extLst>
              <a:ext uri="{FF2B5EF4-FFF2-40B4-BE49-F238E27FC236}">
                <a16:creationId xmlns:a16="http://schemas.microsoft.com/office/drawing/2014/main" id="{90628E90-A168-22C2-3397-2EB1E3BF6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A221C44-C512-2372-4183-5A6E7D95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34A277-FE66-E721-02FC-11CDB6BA5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78" y="25943"/>
            <a:ext cx="1539222" cy="8671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AACA0D-15CE-EC0F-C28A-292C2F819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8" y="154636"/>
            <a:ext cx="1256723" cy="781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F1D851-8F43-461F-9257-1E7D35CF92B7}"/>
              </a:ext>
            </a:extLst>
          </p:cNvPr>
          <p:cNvSpPr txBox="1"/>
          <p:nvPr/>
        </p:nvSpPr>
        <p:spPr>
          <a:xfrm>
            <a:off x="5041907" y="2844225"/>
            <a:ext cx="4424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83174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1688</Words>
  <Application>Microsoft Office PowerPoint</Application>
  <PresentationFormat>Widescreen</PresentationFormat>
  <Paragraphs>171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Karim Mulani</dc:creator>
  <cp:lastModifiedBy>jayesh tupere</cp:lastModifiedBy>
  <cp:revision>14</cp:revision>
  <dcterms:created xsi:type="dcterms:W3CDTF">2024-04-22T06:05:52Z</dcterms:created>
  <dcterms:modified xsi:type="dcterms:W3CDTF">2025-11-12T05:25:47Z</dcterms:modified>
</cp:coreProperties>
</file>